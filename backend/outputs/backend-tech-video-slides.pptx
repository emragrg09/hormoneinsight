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92753b2035487a" /><Relationship Type="http://schemas.openxmlformats.org/officeDocument/2006/relationships/extended-properties" Target="/docProps/app.xml" Id="Raf3ae229a0614ea7" /><Relationship Type="http://schemas.openxmlformats.org/officeDocument/2006/relationships/officeDocument" Target="/ppt/presentation.xml" Id="R489baf8bce054f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1d2a9c0bf4fe2"/>
  </p:sldMasterIdLst>
  <p:notesMasterIdLst>
    <p:notesMasterId xmlns:r="http://schemas.openxmlformats.org/officeDocument/2006/relationships" r:id="Rcc5f56bd239c4bb8"/>
  </p:notesMasterIdLst>
  <p:sldIdLst>
    <p:sldId xmlns:r="http://schemas.openxmlformats.org/officeDocument/2006/relationships" id="256" r:id="R5541645494f24ec7"/>
    <p:sldId xmlns:r="http://schemas.openxmlformats.org/officeDocument/2006/relationships" id="257" r:id="Rb43e7e5cbbaf4ef2"/>
    <p:sldId xmlns:r="http://schemas.openxmlformats.org/officeDocument/2006/relationships" id="258" r:id="Rf3ac487d3c44435e"/>
    <p:sldId xmlns:r="http://schemas.openxmlformats.org/officeDocument/2006/relationships" id="259" r:id="R01efcfb7a45c42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498454b583474d" /><Relationship Type="http://schemas.openxmlformats.org/officeDocument/2006/relationships/slideMaster" Target="/ppt/slideMasters/slideMaster1.xml" Id="Re341d2a9c0bf4fe2" /><Relationship Type="http://schemas.openxmlformats.org/officeDocument/2006/relationships/notesMaster" Target="/ppt/notesMasters/notesMaster1.xml" Id="Rcc5f56bd239c4bb8" /><Relationship Type="http://schemas.openxmlformats.org/officeDocument/2006/relationships/presProps" Target="/ppt/presProps.xml" Id="R186917668be24e94" /><Relationship Type="http://schemas.openxmlformats.org/officeDocument/2006/relationships/tableStyles" Target="/ppt/tableStyles.xml" Id="Reec5521254b74c43" /><Relationship Type="http://schemas.openxmlformats.org/officeDocument/2006/relationships/slide" Target="/ppt/slides/slide1.xml" Id="R5541645494f24ec7" /><Relationship Type="http://schemas.openxmlformats.org/officeDocument/2006/relationships/slide" Target="/ppt/slides/slide2.xml" Id="Rb43e7e5cbbaf4ef2" /><Relationship Type="http://schemas.openxmlformats.org/officeDocument/2006/relationships/slide" Target="/ppt/slides/slide3.xml" Id="Rf3ac487d3c44435e" /><Relationship Type="http://schemas.openxmlformats.org/officeDocument/2006/relationships/slide" Target="/ppt/slides/slide4.xml" Id="R01efcfb7a45c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61fdad948e46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7cd6d12d5d454b" /><Relationship Type="http://schemas.openxmlformats.org/officeDocument/2006/relationships/notesMaster" Target="/ppt/notesMasters/notesMaster1.xml" Id="R321c351af9d8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e1df908b644fb" /><Relationship Type="http://schemas.openxmlformats.org/officeDocument/2006/relationships/notesMaster" Target="/ppt/notesMasters/notesMaster1.xml" Id="Rf8edae6b7af14d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c788bf218404b" /><Relationship Type="http://schemas.openxmlformats.org/officeDocument/2006/relationships/notesMaster" Target="/ppt/notesMasters/notesMaster1.xml" Id="R73865cde269842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b1ff9e84724db7" /><Relationship Type="http://schemas.openxmlformats.org/officeDocument/2006/relationships/notesMaster" Target="/ppt/notesMasters/notesMaster1.xml" Id="R40c0d9bb0147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ad4f4e06d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7dc3fcde714020" /><Relationship Type="http://schemas.openxmlformats.org/officeDocument/2006/relationships/slideLayout" Target="/ppt/slideLayouts/slideLayout1.xml" Id="R52cdf354c4c243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df354c4c2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ee54054994a65" /><Relationship Type="http://schemas.openxmlformats.org/officeDocument/2006/relationships/notesSlide" Target="/ppt/notesSlides/notesSlide1.xml" Id="R7ea8fbc671c5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6922cadf44c38" /><Relationship Type="http://schemas.openxmlformats.org/officeDocument/2006/relationships/notesSlide" Target="/ppt/notesSlides/notesSlide2.xml" Id="R385db35947ac4a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732af4014bf1" /><Relationship Type="http://schemas.openxmlformats.org/officeDocument/2006/relationships/notesSlide" Target="/ppt/notesSlides/notesSlide3.xml" Id="Rfc683b42372a40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cf97c4bf4440d" /><Relationship Type="http://schemas.openxmlformats.org/officeDocument/2006/relationships/notesSlide" Target="/ppt/notesSlides/notesSlide4.xml" Id="Rae56f01b07ef4c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D57CF-0792-479F-AB17-228429D9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BACKEND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39F07-20BD-4A0D-B9CD-E023AF75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We built a reusable model service behind the women-facing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09372-9466-40AA-8130-C68BB51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FastAPI serves a saved NumPy logistic-regression model trained on public NHANES 2021-2023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4DBEA-0D74-44E6-8759-EF5BB1F6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00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045"/>
                </a:solidFill>
              </a:defRPr>
            </a:pPr>
            <a:r>
              <a:rPr sz="1350" b="1">
                <a:solidFill>
                  <a:srgbClr val="006045"/>
                </a:solidFill>
              </a:rPr>
              <a:t>NHANES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9FE3-8AF6-4610-B47E-1E0807A9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381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045"/>
                </a:solidFill>
              </a:defRPr>
            </a:pPr>
            <a:r>
              <a:rPr sz="1350" b="1">
                <a:solidFill>
                  <a:srgbClr val="006045"/>
                </a:solidFill>
              </a:rPr>
              <a:t>Training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42697-6080-4252-BB85-5A024261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045"/>
                </a:solidFill>
              </a:defRPr>
            </a:pPr>
            <a:r>
              <a:rPr sz="1350" b="1">
                <a:solidFill>
                  <a:srgbClr val="006045"/>
                </a:solidFill>
              </a:rPr>
              <a:t>Saved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AED17-ED98-4423-824C-3FD42AE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05150"/>
            <a:ext cx="1619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A4F4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045"/>
                </a:solidFill>
              </a:defRPr>
            </a:pPr>
            <a:r>
              <a:rPr sz="1350" b="1">
                <a:solidFill>
                  <a:srgbClr val="006045"/>
                </a:solidFill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59086-9E27-4331-B908-10E86022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09925"/>
            <a:ext cx="3714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82B58-453E-4CE7-A5EB-DEC2C6AE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3714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E9E75-E35C-48AE-AE9C-D0A71A74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0992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8EAE1-B33C-4F89-B556-1AAC0BD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The frontend never retrains the model. It calls a stable API that loads the saved model once at startup.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12AD7-5834-46E5-959F-AE50578C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Research prototype. Not a clinical diagnosis.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C0308-6099-4152-ABE4-3C0E224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3376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F1DDE6-422D-486E-BF9D-300EFE05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C78D3-892E-43C9-A99F-2C9E2AB1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The benchmark is built from linked NHANES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EEA05-0791-4526-9307-E47BE41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Each module is merged by SEQN, the NHANES participant identifier.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CA220-4272-40B3-BD85-D8A72D5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38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FD155-04AA-4016-B00D-2294990E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B8E25-2F71-4A0B-BF25-EA7E9AD7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Survey and exam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6F548-6904-46B6-8905-01857B61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Demographics, reproductive health questionnaire, and body measurements.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B2C98-7931-4021-B66E-C13C6B3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FED32-2D03-430C-A2D4-3E680D58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44A2D-2BE2-4CEB-8B37-6AC7DC7F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Hormone and lab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8BEB2-B9DF-4832-B20C-48D99D64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Sex steroid hormones, glucose, insulin, glycohemoglobin, inflammation, biochemistry, lipids, and pregnancy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6EFCA-0BB8-437F-8E4E-37E9F98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3238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1FD23-6402-4C94-BD07-F9C9066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2BF07-97F6-4AA9-A63B-3862F6D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Target definition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0BA93-6226-4EF1-8684-48BAA3F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Self-reported menopause/change of life as the reason for not having regular periods.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7EBCC-CB9A-4608-BC3D-6EB1E2D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1970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This target is self-reported in NHANES. It is not clinically confirmed menopause.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62013-3342-4595-B28D-4E14D55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Research prototype. Not a clinical diagnosis.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B203C-21D0-4DBF-9F6E-D523C74C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0859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F712C-0B92-46BC-8EFA-C69DFD8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MODEL AND ARTIFACTS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F8E90-7B94-47C9-A6C7-7F9CD14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Training creates a portable inference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CBFA0-0099-4EE5-A9DA-6ECC32D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The model is class-balanced logistic regression implemented with NumPy.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32552-BF1A-4A84-978E-4BBC8531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432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0960F-BFE3-4EC2-BCD8-20A6B0EB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41CEF-C5A1-4980-A262-528472B5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Model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0FA10-62E2-4EAD-BC4F-CD0326A7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Weights and bias are saved in a compressed NumPy artifact.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28420-97A2-439E-9A47-A84923A5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31432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4F77A-A1E3-48BA-87F4-2F0E6AC7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666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8D392-7536-452D-A7EC-DDA20E29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Preprocessing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9CCD1-9497-4D68-B37C-37DBF271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147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Feature order, imputation medians, category mappings, scaling means, and scaling standard deviations are saved.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4F10E-0401-464F-976A-761C2B0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1432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769BD-F337-4EB1-82F0-9CAE5AC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6667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81FC7-F54C-4AF3-97C2-EF2344A7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Decision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18450-0C45-4B74-9DDF-65423267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The classification threshold, evaluation metrics, and metadata are saved in JSON.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9C048-591C-40B5-AADC-BD1AA1D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8635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Inference uses the same preprocessing as training, fitted on the training split only.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8FA36-78FF-47FB-A647-677795AC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Research prototype. Not a clinical diagnosis.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46FF8-61CC-47AB-9D21-4E314D89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2127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68652-F595-4844-841F-ACE247B8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API FOR THE 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C7889-2982-4CF5-B088-EC955B6E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Lovable talks to one women-facing prediction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BC299-CD50-4605-8913-77F7D2B4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The API returns an estimate, a likelihood band, careful explanation, and model-score contributions.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F680A-4244-43E9-BC57-B62E98A9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AFEF2-0682-4634-B11E-E6EE421D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8AD0E-AFBD-4821-AE12-CE36F6CC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Questionnaire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DBBCB-3E73-4736-A545-63961843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GET /api/v1/feature-schema</a:t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GET /api/v1/sample-participant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0DA90-B41D-4832-9839-C6E0E9E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4883A-CBEF-4EE4-A01B-CA317102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4D1"/>
          </a:solidFill>
          <a:ln xmlns:a="http://schemas.openxmlformats.org/drawingml/2006/main" w="0">
            <a:solidFill>
              <a:srgbClr val="008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AD577-2A7C-442D-A931-BDBF16E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8338F-4197-4FFC-8047-D7FB2E4C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POST /api/v1/predict</a:t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Returns probability and lower, moderate, or higher band.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DACF9-F4C4-486A-9C87-16222FC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7B83A-A256-4228-9A57-20D3F5C1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2FE"/>
          </a:solidFill>
          <a:ln xmlns:a="http://schemas.openxmlformats.org/drawingml/2006/main" w="0">
            <a:solidFill>
              <a:srgbClr val="7F2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14A16-6209-446B-B903-9AAD8E2F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Transparency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5E9FD-A41A-4836-AE5E-FE6BDF9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GET /api/v1/model-info</a:t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Explains dataset, model, performance, and limitations.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C1A7B-B78E-4EEC-8C23-DD44E79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925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293D"/>
                </a:solidFill>
              </a:defRPr>
            </a:pPr>
            <a:r>
              <a:rPr sz="1800" b="1">
                <a:solidFill>
                  <a:srgbClr val="1D293D"/>
                </a:solidFill>
              </a:rPr>
              <a:t>Feature contributions describe what contributed to the model score, not what caused menopause.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FC4C4-5CDF-483A-BC53-F1A47D9A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Research prototype. Not a clinical diagnosis.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39F15-3FEA-480D-949B-73EC1CE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9039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2026-07-19T09:27:46.1880000Z</dcterms:created>
  <dcterms:modified xsi:type="dcterms:W3CDTF">2026-07-19T09:27:46.1880000Z</dcterms:modified>
</coreProperties>
</file>